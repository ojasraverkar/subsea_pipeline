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110 °C inlet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Aerogel</c:v>
                </c:pt>
                <c:pt idx="1">
                  <c:v>Rigid PU</c:v>
                </c:pt>
                <c:pt idx="2">
                  <c:v>Adv. Syntactic</c:v>
                </c:pt>
                <c:pt idx="3">
                  <c:v>Syntactic PP</c:v>
                </c:pt>
                <c:pt idx="4">
                  <c:v>Wood</c:v>
                </c:pt>
                <c:pt idx="5">
                  <c:v>Solid PP</c:v>
                </c:pt>
                <c:pt idx="6">
                  <c:v>Hylam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106.68</c:v>
                </c:pt>
                <c:pt idx="1">
                  <c:v>106.05</c:v>
                </c:pt>
                <c:pt idx="2">
                  <c:v>96.28</c:v>
                </c:pt>
                <c:pt idx="3">
                  <c:v>93.58</c:v>
                </c:pt>
                <c:pt idx="4">
                  <c:v>93.58</c:v>
                </c:pt>
                <c:pt idx="5">
                  <c:v>89.54</c:v>
                </c:pt>
                <c:pt idx="6">
                  <c:v>86.01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CE-4D9C-BC1C-58EF8917B8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 °C inlet</c:v>
                </c:pt>
              </c:strCache>
            </c:strRef>
          </c:tx>
          <c:spPr>
            <a:solidFill>
              <a:srgbClr val="007A7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Aerogel</c:v>
                </c:pt>
                <c:pt idx="1">
                  <c:v>Rigid PU</c:v>
                </c:pt>
                <c:pt idx="2">
                  <c:v>Adv. Syntactic</c:v>
                </c:pt>
                <c:pt idx="3">
                  <c:v>Syntactic PP</c:v>
                </c:pt>
                <c:pt idx="4">
                  <c:v>Wood</c:v>
                </c:pt>
                <c:pt idx="5">
                  <c:v>Solid PP</c:v>
                </c:pt>
                <c:pt idx="6">
                  <c:v>Hylam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48.56</c:v>
                </c:pt>
                <c:pt idx="1">
                  <c:v>48.29</c:v>
                </c:pt>
                <c:pt idx="2">
                  <c:v>44.05</c:v>
                </c:pt>
                <c:pt idx="3">
                  <c:v>42.87</c:v>
                </c:pt>
                <c:pt idx="4">
                  <c:v>42.87</c:v>
                </c:pt>
                <c:pt idx="5">
                  <c:v>41.12</c:v>
                </c:pt>
                <c:pt idx="6">
                  <c:v>39.590000000000003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CE-4D9C-BC1C-58EF8917B8B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Wax threshold (45 °C)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Aerogel</c:v>
                </c:pt>
                <c:pt idx="1">
                  <c:v>Rigid PU</c:v>
                </c:pt>
                <c:pt idx="2">
                  <c:v>Adv. Syntactic</c:v>
                </c:pt>
                <c:pt idx="3">
                  <c:v>Syntactic PP</c:v>
                </c:pt>
                <c:pt idx="4">
                  <c:v>Wood</c:v>
                </c:pt>
                <c:pt idx="5">
                  <c:v>Solid PP</c:v>
                </c:pt>
                <c:pt idx="6">
                  <c:v>Hylam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CE-4D9C-BC1C-58EF8917B8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30"/>
        </c:scaling>
        <c:delete val="0"/>
        <c:axPos val="l"/>
        <c:majorGridlines>
          <c:spPr>
            <a:ln w="6350" cap="flat">
              <a:solidFill>
                <a:srgbClr val="E3EA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Arial"/>
                  </a:rPr>
                  <a:t>Temperature (°C)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5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85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AC1F-3DB3-195F-57DA-54337947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6EE62-DBAB-F28F-9327-F3B25FEC9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131DA-174C-E127-491A-2344C9144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0E64C-78C5-06DA-93EA-87A72F6B9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7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6 · Subsea Oil Pipeline Insulation · BMEE402P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868680"/>
            <a:ext cx="3383280" cy="338328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715000" y="1051560"/>
            <a:ext cx="3017520" cy="301752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875020" y="1211580"/>
            <a:ext cx="2697480" cy="2697480"/>
          </a:xfrm>
          <a:prstGeom prst="ellipse">
            <a:avLst/>
          </a:prstGeom>
          <a:solidFill>
            <a:srgbClr val="5BC0BE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80760" y="1417320"/>
            <a:ext cx="2286000" cy="22860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46520" y="1783080"/>
            <a:ext cx="1554480" cy="155448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06540" y="1943100"/>
            <a:ext cx="1234440" cy="12344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" y="6400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Subsea Oil Pipeline Insulation Performance under High Thermal Stress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6 · Heat and Mass Transfer Lab (BMEE402P)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Mechanical Engineering (SMEC), VIT Vellore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Yagna S Mukkamala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11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Pitambare (24BME0029)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Raverkar (24BME0046)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Deogaonkar (24BMV0087)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and Novelty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carries paraffin waxes. As the oil cools, wax solubility falls and crystals deposit on the pipe wall, progressively blocking flow (waxing).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studied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774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resistance and conductivity of insulation layers under rising thermal load, then 10 km of multilayer subsea pipe, to keep oil above 45 °C.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3774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treat k as constant. We tested whether real layer resistance holds, degrades or rises with load, for flow assurance and insulation design.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Acquisition: Interface Temperatures (°C)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inlet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/ insulation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 / jacket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Jacket / concrete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/ fouling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Syntactic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Syntactic Foam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PU Foam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Hylam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Model and Inputs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(W/m·K)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pipe (ID 400 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the oil and withstands internal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insulation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to 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barrier: limits heat loss to keep oil above 45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Polymer jacket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 to keep seawater out of the insulation (wet insulation conducts far more heat) and to guard against abrasion and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coating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 to add submerged weight so the pipe stays on the seabed against currents, and to protect against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Biofouling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 growth on the outer surface, modelled as a thin film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2"/>
          <p:cNvSpPr txBox="1"/>
          <p:nvPr/>
        </p:nvSpPr>
        <p:spPr>
          <a:xfrm>
            <a:off x="48463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km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length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64592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167335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106.8 kg/s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mass flow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3464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286207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2200 J/kg·K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88036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specific heat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2336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05079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500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oil / sea, W/m²·K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523951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°C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642823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°C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 threshold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89520" y="374904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7616952" y="38221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/ 50 °C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3524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inlet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Formulae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069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resistance per metre, R′ (K·m/W)</a:t>
            </a:r>
            <a:endParaRPr lang="en-US" sz="1200" dirty="0"/>
          </a:p>
        </p:txBody>
      </p:sp>
      <p:pic>
        <p:nvPicPr>
          <p:cNvPr id="5" name="Image 0" descr="Total resistance per metre, R′ (K·m/W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74" y="1353312"/>
            <a:ext cx="3125253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temperature along the pipe</a:t>
            </a:r>
            <a:endParaRPr lang="en-US" sz="1200" dirty="0"/>
          </a:p>
        </p:txBody>
      </p:sp>
      <p:pic>
        <p:nvPicPr>
          <p:cNvPr id="8" name="Image 1" descr="Oil temperature along the pi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50" y="2542032"/>
            <a:ext cx="3139860" cy="7132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4800600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loss per metre at distance x</a:t>
            </a:r>
            <a:endParaRPr lang="en-US" sz="1200" dirty="0"/>
          </a:p>
        </p:txBody>
      </p:sp>
      <p:pic>
        <p:nvPicPr>
          <p:cNvPr id="11" name="Image 2" descr="Heat loss per metre at distance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519" y="2542032"/>
            <a:ext cx="1659203" cy="7132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7200" y="338328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 txBox="1"/>
          <p:nvPr/>
        </p:nvSpPr>
        <p:spPr>
          <a:xfrm>
            <a:off x="59436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Waxing distance, 110 °C inlet (oil reaches 45 °C)</a:t>
            </a:r>
            <a:endParaRPr lang="en-US" sz="1200" dirty="0"/>
          </a:p>
        </p:txBody>
      </p:sp>
      <p:pic>
        <p:nvPicPr>
          <p:cNvPr id="14" name="Image 3" descr="Waxing distance, 110 °C inlet (oil reaches 45 °C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53" y="3730752"/>
            <a:ext cx="3207854" cy="7132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63440" y="338328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480060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Waxing distance, 50 °C inlet (oil reaches 45 °C)</a:t>
            </a:r>
            <a:endParaRPr lang="en-US" sz="1200" dirty="0"/>
          </a:p>
        </p:txBody>
      </p:sp>
      <p:pic>
        <p:nvPicPr>
          <p:cNvPr id="17" name="Image 4" descr="Waxing distance, 50 °C inlet (oil reaches 45 °C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277" y="3730752"/>
            <a:ext cx="3099686" cy="7132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radius, k: conductivity, h: film coefficient, ṁ: mass flow, C_p: specific heat, T∞ = 4 °C. 106/41 = (110 − 4)/(45 − 4) and 46/41 = (50 − 4)/(45 − 4).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Heat Loss and Temperature, 110 °C Inlet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(W/m·K)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R′ (K·m/W)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loss (W/m)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 10 km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Wax dist. (km)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PU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Adv. Syntactic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Syntactic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Hylam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insulation keeps the oil above 45 °C, but Aerogel and Rigid PU Foam lose by far the least heat (79.5 and 94.5 W/m).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oil stays at or above 45 °C (no waxing).  Red: oil falls below 45 °C (waxing risk).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Heat Loss and Temperature, 50 °C Inlet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(W/m·K)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R′ (K·m/W)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loss (W/m)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 10 km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Wax dist. (km)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PU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Adv. Syntactic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B2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Syntactic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B2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B2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B2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Hylam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B2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Aerogel (48.6 °C) and Rigid PU Foam (48.3 °C) keep the oil above 45 °C; every other option falls into the waxing region.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oil stays at or above 45 °C (no waxing).  Red: oil falls below 45 °C (waxing risk).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Visualization: Oil Temperature after 10 km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110 °C all options pass; at 50 °C only Aerogel and Rigid PU Foam stay above the 45 °C threshold.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Visualization: ANSYS Thermal Simulation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2023 R1 steady-state thermal model with oil-side and seawater-side convection. The radial temperature drop is concentrated across the insulation layer.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07D0A4-A4F7-668C-FE87-E6C5D0C9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984312"/>
            <a:ext cx="5015131" cy="2661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E5A97B-F6CF-1414-0735-45821937E4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316"/>
          <a:stretch>
            <a:fillRect/>
          </a:stretch>
        </p:blipFill>
        <p:spPr>
          <a:xfrm>
            <a:off x="5641144" y="961016"/>
            <a:ext cx="3291840" cy="2658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CDE2FE-1B79-5622-DA0E-4297C7766FAE}"/>
              </a:ext>
            </a:extLst>
          </p:cNvPr>
          <p:cNvSpPr txBox="1"/>
          <p:nvPr/>
        </p:nvSpPr>
        <p:spPr>
          <a:xfrm>
            <a:off x="3787725" y="3723511"/>
            <a:ext cx="1568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Simulation for Aerogel</a:t>
            </a:r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F7BC-C65F-DD38-6839-60806234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7A36608-8B46-B26F-3C25-D24F93219288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Visualization: ANSYS Thermal Simulation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EE5A1F-25E4-8DEE-198E-1EE8E6B360B0}"/>
              </a:ext>
            </a:extLst>
          </p:cNvPr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2023 R1 steady-state thermal model with oil-side and seawater-side convection. The radial temperature drop is concentrated across the insulation layer.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748C9C8-C81A-4E09-A201-FDDFBE1C74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158C8-9176-C3B0-8B34-FE32C0831FA2}"/>
              </a:ext>
            </a:extLst>
          </p:cNvPr>
          <p:cNvSpPr txBox="1"/>
          <p:nvPr/>
        </p:nvSpPr>
        <p:spPr>
          <a:xfrm>
            <a:off x="3543299" y="3763513"/>
            <a:ext cx="2057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Simulation for Rigid PU Foam</a:t>
            </a: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5644A-8B4C-7FA4-61EC-C8B7AC656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5365"/>
            <a:ext cx="4832252" cy="2718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2136FB-D6DF-EB3C-D7A1-2F5A2E2EE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761"/>
          <a:stretch>
            <a:fillRect/>
          </a:stretch>
        </p:blipFill>
        <p:spPr>
          <a:xfrm>
            <a:off x="5407464" y="948819"/>
            <a:ext cx="3525519" cy="267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18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Radius of Insulation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cylinder with outer convection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3000" b="1" baseline="-40000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r>
              <a:rPr lang="en-US" sz="30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k / h</a:t>
            </a:r>
            <a:r>
              <a:rPr lang="en-US" sz="3000" b="1" baseline="-40000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outer radius r_o is above r_cr, adding insulation always reduces heat loss, because conduction resistance dominates.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outer radius = 270 mm, far above every r_cr (under 0.5 mm)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27797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(W/m·K)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r_cr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PU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Adv. Syntactic Foam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Syntactic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Hylam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5488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seawater-side h_o = 500 W/m²·K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Decision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0675"/>
            <a:ext cx="8229600" cy="604912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798346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specify Aerogel or Rigid PU Foam. They cut heat loss 4 to 8 times and are the only options that keep 50 °C oil above 45 °C after 10 km.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40748"/>
            <a:ext cx="2560320" cy="1828800"/>
          </a:xfrm>
          <a:prstGeom prst="roundRect">
            <a:avLst>
              <a:gd name="adj" fmla="val 489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25779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Aerogel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35108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heat loss (79.5 W/m at 110 °C). Use in pipe-in-pipe or hydrophobic packs, since it loses performance when wet.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440748"/>
            <a:ext cx="2560320" cy="1828800"/>
          </a:xfrm>
          <a:prstGeom prst="roundRect">
            <a:avLst>
              <a:gd name="adj" fmla="val 489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474720" y="25779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 PU Foam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035108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Near-aerogel performance (94.5 W/m). It crushes under deep-sea pressure: use in shallow water with a jacket, or syntactic PU in deep water.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440748"/>
            <a:ext cx="2560320" cy="1828800"/>
          </a:xfrm>
          <a:prstGeom prst="roundRect">
            <a:avLst>
              <a:gd name="adj" fmla="val 489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309360" y="25779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other options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35108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PP and foam, solid PP, wood and Hylam pass at 110 °C but fall to 39.6 to 44.0 °C at 50 °C. They need thicker layers or hotter oil.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8A65742-0845-5AB4-2CB9-44FEF6191F7E}"/>
              </a:ext>
            </a:extLst>
          </p:cNvPr>
          <p:cNvSpPr txBox="1">
            <a:spLocks/>
          </p:cNvSpPr>
          <p:nvPr/>
        </p:nvSpPr>
        <p:spPr>
          <a:xfrm>
            <a:off x="457200" y="164591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800" b="1" kern="120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dirty="0"/>
              <a:t>P</a:t>
            </a:r>
            <a:r>
              <a:rPr lang="en-IN" dirty="0" err="1"/>
              <a:t>roblems</a:t>
            </a:r>
            <a:r>
              <a:rPr lang="en-IN" dirty="0"/>
              <a:t> Faced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PU foam is crushed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syntactic PU (glass microspheres) in deep water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pressure-rated outer jacket or pipe-in-pipe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denser foam and prove it by pressure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2" y="10515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aerogel gets wet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hydrophobic aerogel in sealed, vacuum-packed layers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a dry, gas-filled pipe-in-pipe annulus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field joints and allow a wet-conductivity margin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063" y="3365698"/>
            <a:ext cx="8349175" cy="1325880"/>
          </a:xfrm>
          <a:prstGeom prst="roundRect">
            <a:avLst>
              <a:gd name="adj" fmla="val 827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43130" y="343885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“thermal stress” means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strain from running hot caused due to uneven expansion across the wall and softening at high temperature.</a:t>
            </a:r>
            <a:endParaRPr lang="en-US" sz="1400" dirty="0"/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110 °C PU Foam is workable with very  little margin as it is rated to about 100 to 130 °C.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Aerogel packs are rated to about 200 °C providing ample margin.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bsea">
  <a:themeElements>
    <a:clrScheme name="Subsea">
      <a:dk1>
        <a:srgbClr val="0B2545"/>
      </a:dk1>
      <a:lt1>
        <a:srgbClr val="FFFFFF"/>
      </a:lt1>
      <a:dk2>
        <a:srgbClr val="13315C"/>
      </a:dk2>
      <a:lt2>
        <a:srgbClr val="EEF4F8"/>
      </a:lt2>
      <a:accent1>
        <a:srgbClr val="00A6A6"/>
      </a:accent1>
      <a:accent2>
        <a:srgbClr val="13315C"/>
      </a:accent2>
      <a:accent3>
        <a:srgbClr val="C0392B"/>
      </a:accent3>
      <a:accent4>
        <a:srgbClr val="2E9E5B"/>
      </a:accent4>
      <a:accent5>
        <a:srgbClr val="F2A541"/>
      </a:accent5>
      <a:accent6>
        <a:srgbClr val="8DA9C4"/>
      </a:accent6>
      <a:hlink>
        <a:srgbClr val="00A6A6"/>
      </a:hlink>
      <a:folHlink>
        <a:srgbClr val="8DA9C4"/>
      </a:folHlink>
    </a:clrScheme>
    <a:fontScheme name="Subse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1400</Words>
  <Application>Microsoft Office PowerPoint</Application>
  <PresentationFormat>On-screen Show (16:9)</PresentationFormat>
  <Paragraphs>380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Subsea</vt:lpstr>
      <vt:lpstr>PowerPoint Presentation</vt:lpstr>
      <vt:lpstr>Problem Definition and Novelty</vt:lpstr>
      <vt:lpstr>Data Acquisition: Interface Temperatures (°C)</vt:lpstr>
      <vt:lpstr>Pipeline Model and Inputs</vt:lpstr>
      <vt:lpstr>Formulae Used</vt:lpstr>
      <vt:lpstr>Results: Heat Loss and Temperature, 110 °C Inlet</vt:lpstr>
      <vt:lpstr>Results: Heat Loss and Temperature, 50 °C Inlet</vt:lpstr>
      <vt:lpstr>Visualization: Oil Temperature after 10 km</vt:lpstr>
      <vt:lpstr>Visualization: ANSYS Thermal Simulation</vt:lpstr>
      <vt:lpstr>Visualization: ANSYS Thermal Simulation</vt:lpstr>
      <vt:lpstr>Critical Radius of Insulation</vt:lpstr>
      <vt:lpstr>Industrial Decision</vt:lpstr>
      <vt:lpstr>Solution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Subsea Oil Pipeline Insulation Performance under High Thermal Stress</dc:title>
  <dc:subject>PptxGenJS Presentation</dc:subject>
  <dc:creator>PptxGenJS</dc:creator>
  <cp:lastModifiedBy>Pitambare Ishaan Amod</cp:lastModifiedBy>
  <cp:revision>4</cp:revision>
  <dcterms:created xsi:type="dcterms:W3CDTF">2026-10-29T22:35:34Z</dcterms:created>
  <dcterms:modified xsi:type="dcterms:W3CDTF">2026-10-29T23:29:51Z</dcterms:modified>
</cp:coreProperties>
</file>